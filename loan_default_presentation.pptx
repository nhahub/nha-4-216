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00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5711F-2582-7745-B1DB-5ADDA93E8CB0}" type="datetimeFigureOut">
              <a:rPr lang="" smtClean="0"/>
              <a:t>07/10/2026</a:t>
            </a:fld>
            <a:endParaRPr lang="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29E49-9F4C-C14E-8995-DE2E9D14D07E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341149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2F7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262F73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2B34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1843781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Default Risk 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9140" y="286138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— Digital Egypt Pioneers Initiative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31664" y="3588588"/>
            <a:ext cx="2286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5504" y="4273179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Team Members"/>
          <p:cNvSpPr/>
          <p:nvPr/>
        </p:nvSpPr>
        <p:spPr>
          <a:xfrm>
            <a:off x="739140" y="3942893"/>
            <a:ext cx="10515600" cy="1570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Ahmed Mohamed Elsaid </a:t>
            </a:r>
            <a:r>
              <a:rPr lang="en-US" sz="16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Bebars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Ahmed Safwat Mohamed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Ahmed Mahmoud Ahmed Osman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Manar Ashraf Ibrahim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Salma Ayman Mohamed</a:t>
            </a:r>
          </a:p>
          <a:p>
            <a:pPr marL="0" indent="0" algn="ctr">
              <a:buNone/>
            </a:pPr>
            <a:endParaRPr lang="en-US" sz="1600" b="1" dirty="0"/>
          </a:p>
        </p:txBody>
      </p:sp>
      <p:sp>
        <p:nvSpPr>
          <p:cNvPr id="12" name="Text Instructor"/>
          <p:cNvSpPr/>
          <p:nvPr/>
        </p:nvSpPr>
        <p:spPr>
          <a:xfrm>
            <a:off x="739140" y="553757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Eslam Hussein Mohamed </a:t>
            </a:r>
            <a:r>
              <a:rPr lang="en-US" sz="1600" b="1" dirty="0" err="1">
                <a:solidFill>
                  <a:srgbClr val="9AA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Elreedy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859536" y="58443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understanding to a production-ready model</a:t>
            </a:r>
            <a:endParaRPr lang="en-US" sz="14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643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61408" y="1463040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A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4084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Problem &amp; Context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1463040"/>
            <a:ext cx="53643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91495" y="1463040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A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07328" y="1463040"/>
            <a:ext cx="4084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53643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1408" y="2414016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A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2414016"/>
            <a:ext cx="4084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78728" y="2414016"/>
            <a:ext cx="53643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91495" y="2414016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A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07328" y="2414016"/>
            <a:ext cx="4084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53643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1408" y="3364992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A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3364992"/>
            <a:ext cx="4084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78728" y="3364992"/>
            <a:ext cx="53643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91495" y="3364992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A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07328" y="3364992"/>
            <a:ext cx="4084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53643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61408" y="4315968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A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7240" y="4315968"/>
            <a:ext cx="4084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Evaluation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78728" y="4315968"/>
            <a:ext cx="53643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591495" y="4315968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A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507328" y="4315968"/>
            <a:ext cx="4084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&amp; Cross-Validation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266944"/>
            <a:ext cx="53643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61408" y="5266944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A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77240" y="5266944"/>
            <a:ext cx="4084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Results Analysis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78728" y="5266944"/>
            <a:ext cx="53643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591495" y="5266944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A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507328" y="5266944"/>
            <a:ext cx="40841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Pipeline &amp; Conclusion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•  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predict loan default risk?</a:t>
            </a:r>
            <a:endParaRPr lang="en-US" sz="2500" dirty="0"/>
          </a:p>
        </p:txBody>
      </p:sp>
      <p:pic>
        <p:nvPicPr>
          <p:cNvPr id="4" name="Image 0" descr="/home/claude/work/imgs/problem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526" y="1371600"/>
            <a:ext cx="7032887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receive thousands of loan applications, with no way to know who will repay and who will default until it's too late.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human assessment is slow, inconsistent, and prone to bias.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machine learning model that predicts default probability (Status) before loan approval, based on 34 financial and demographic features.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•  The Data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384004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2763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148,670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/ Loan Applications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62763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(Columns)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55448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62763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4360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41080" y="1554480"/>
            <a:ext cx="29992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1080" y="1627632"/>
            <a:ext cx="2999232" cy="1143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41080" y="2697480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with Missing Values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6118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023360"/>
            <a:ext cx="1036289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predicting the Status column — whether a borrower will default or not.</a:t>
            </a:r>
            <a:endParaRPr lang="en-US" sz="135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include: income, property value, credit score, loan-to-value ratio (LTV), debt-to-income ratio (dtir1), interest rate, gender, region, loan type, and more.</a:t>
            </a:r>
            <a:endParaRPr lang="en-US" sz="135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moderate class imbalance (~75% vs ~25%) requiring special handling during training and evaluation.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•  Data Quality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Matrix — white represents a missing value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4415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work/imgs/cell15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4750"/>
            <a:ext cx="10637215" cy="29200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by Column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imputation strategy used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9436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work/imgs/cell16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89424"/>
            <a:ext cx="5486400" cy="225639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508760"/>
          <a:ext cx="4937760" cy="28803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Upfront_charges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Interest_rate_spread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rate_of_interest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dtir1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property_value / LTV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720840" y="457200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949440" y="47091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numerical values imputed with the median (robust to outliers), and categorical columns imputed with the mode (most frequent value).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12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•  EDA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5897" y="306121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 Distribution (Status)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Target Variable — Loan Default Distribution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7406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work/imgs/cell1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42069"/>
            <a:ext cx="6949440" cy="29053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4107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1536192"/>
            <a:ext cx="3410712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75.4%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0" y="2468880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(Majority Class)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0" y="3063240"/>
            <a:ext cx="34107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0" y="3136392"/>
            <a:ext cx="3410712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29600" y="4069080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(Minority Class)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0" y="4663440"/>
            <a:ext cx="3410712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12480" y="4846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 ratio ≈ 3.06 : 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0" y="5349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model that always predicts the majority class would achieve ~75.4% accuracy — which is misleading!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6B759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class imbalance a challenge?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a misleading metric under class imbalance — ROC-AUC, F1-Macro, and Recall must be used alongside it.</a:t>
            </a:r>
            <a:endParaRPr lang="en-US" sz="1550" dirty="0"/>
          </a:p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is used to give greater weight to minority-class (defaulter) errors during training.</a:t>
            </a:r>
            <a:endParaRPr lang="en-US" sz="1550" dirty="0"/>
          </a:p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(synthetic sample generation) was tested during development but excluded from the final pipeline.</a:t>
            </a:r>
            <a:endParaRPr lang="en-US" sz="1550" dirty="0"/>
          </a:p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5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SMOTE generated unrealistic synthetic edge-case samples that hurt the model's ability to generalize to real test data.</a:t>
            </a:r>
            <a:endParaRPr lang="en-US" sz="1550" dirty="0"/>
          </a:p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choice: class_weight only — more stable, honest results without fabricating data.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8" y="45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39" y="27432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Feature Distributions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8539" y="777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work/imgs/cell19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010" y="1645920"/>
            <a:ext cx="9347674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 — Numerical Features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4892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Defaulters cluster between 500–650; non-defaulters tend toward higher scores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Defaulters have higher LTV — borrowing a larger share of the property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Lower-income borrowers show a higher default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of Interest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Defaulters generally have a slightly higher interest rate (risk-based pricing)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Debt-to-Income (dtir1)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debt-to-income ratios correlate with higher default rates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distribution across both classes — a weak predictive signal on its 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Charges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spread among defaulters; higher charges may indicate higher-risk 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385557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Correlation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Correlation Heatmap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2834640" y="1417320"/>
            <a:ext cx="6492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work/imgs/cell22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035" y="1600200"/>
            <a:ext cx="4681451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Correlation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vs property_value: moderate negative correlation — higher-value properties yield a lower LTV.</a:t>
            </a:r>
            <a:endParaRPr lang="en-US" sz="1550" dirty="0"/>
          </a:p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 vs property_value: positive correlation — larger loans for more expensive properties.</a:t>
            </a:r>
            <a:endParaRPr lang="en-US" sz="1550" dirty="0"/>
          </a:p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rate_of_interest vs Interest_rate_spread: very high correlation — prompting consideration of dropping one to avoid redundancy in linear models.</a:t>
            </a:r>
            <a:endParaRPr lang="en-US" sz="1550" dirty="0"/>
          </a:p>
          <a:p>
            <a:pPr marL="342900" indent="-342900" algn="l">
              <a:spcAft>
                <a:spcPts val="1400"/>
              </a:spcAft>
              <a:buSzPct val="100000"/>
              <a:buChar char="▪"/>
            </a:pPr>
            <a:r>
              <a:rPr lang="en-US" sz="15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shows weak linear correlations with most individual features ← the relationship is non-linear and complex ← tree-based models are expected to outperform linear ones.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b="1" kern="0" spc="100" dirty="0">
              <a:solidFill>
                <a:srgbClr val="8A9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Feature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b="1" dirty="0">
              <a:solidFill>
                <a:srgbClr val="6B759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work/imgs/cell25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613" y="1645920"/>
            <a:ext cx="9282469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6B759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b="1" kern="0" spc="100" dirty="0">
              <a:solidFill>
                <a:srgbClr val="8A9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 — Categorical Features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4892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applicants show the highest rejection rate; ‘Sex Not Available’ shows the highest acceptance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Type2 has the highest acceptance rate; Type1 and Type3 are rejected more often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North-East has the highest acceptance rate; North has the highest rejection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applicants (≈75) show a slightly higher acceptance rate; overall effect is 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Worthiness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of 1 is associated with a higher acceptance rate than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has the highest acceptance rate; P4 the lowest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‘nopre’ has a slightly higher acceptance rate than ‘pre’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category showed 100% acceptance — a very small group, to be interpreted with caution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6B759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b="1" kern="0" spc="100" dirty="0">
              <a:solidFill>
                <a:srgbClr val="8A9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Financial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Boxplots: Key Financial Metrics by Default Status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work/imgs/cell28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84049"/>
            <a:ext cx="10637215" cy="24043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6B759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b="1" kern="0" spc="100" dirty="0">
              <a:solidFill>
                <a:srgbClr val="8A9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5929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650289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/>
            <a:r>
              <a:rPr lang="en-US" sz="1400" b="1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</a:t>
            </a:r>
            <a:r>
              <a:rPr lang="en-US" sz="140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b="1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4892041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8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75.4% Rejected vs 24.6% Accepted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class_weight; SMOTE tested and excluded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separates the two classes well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predictive 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strongly correlated with default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 engineered 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columns with 10–27% missing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 with median/mode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linear correlations with the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Tree-based/ensemble models expected to outperform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and demographic differences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features add predictive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6B759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08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•  Cleaning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57784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441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the ID column — a unique identifier with no predictive value.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the year column — a single value (2019) across all rows, with no variance.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duplicates: 0 duplicate rows across the entire dataset.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the age column from text categories (e.g., '25-34') to a numeric value (bucket midpoint, with 20 for '&lt;25' and 75 for '&gt;74').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dropped Upfront_charges and Interest_rate_spread.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4754880"/>
            <a:ext cx="104543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both columns had a high proportion of missing values, requiring heavy imputation that led to overfitting and weaker generalization. Dropping them produced a more stable, robust model.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•  Feature Engineering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39" y="507492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Feature Encoding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41033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Encoding — Binary (9 columns)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9377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Credit_Worthiness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open_credit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business_or_commercial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interest_only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lump_sum_payment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construction_type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Secured_by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co-applicant_credit_type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Security_Type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Encoding — Nominal (12 columns)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loan_limit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approv_in_adv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loan_type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loan_purpose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Neg_ammortization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occupancy_type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total_units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credit_type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submission_of_application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Domain-Driven Engineered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85455" y="150876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Loan_to_Income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loan_amount / (income + 1)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Loan-to-Income Ratio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85455" y="2350008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Loan_to_Property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43200" y="2350008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loan_amount / (property_value + 1)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350008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Loan-to-Property Ratio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91256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85455" y="319125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Debt_to_Income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743200" y="3191256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dtir1 / (income + 1)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191256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85455" y="403250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Score_LTV_ratio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743200" y="403250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Credit_Score / LTV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032504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Score-to-LTV Ratio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73752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85455" y="487375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Interest_x_LTV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743200" y="4873752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rate_of_interest × LTV / 100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873752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× LTV Interaction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log1p transform was also applied to loan_amount, property_value, income, and rate_of_interest to reduce the effect of skewed distributions.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•  Class Imbalance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Class Imbalance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2377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Applied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 = {0: 0.66, 1: 2.03}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weight for minority-class misclassification during training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LR, DT, RF, and others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Metrics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and F1-Macro instead of relying on Accuracy alone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(experimental)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sample generation for the minority class — tested, then excluded from the final version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experiment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4187952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89,625 / 29,311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5577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Class Distribution (0 / 1)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4114800"/>
            <a:ext cx="7296912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17720" y="42519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applying SMOTE to the training data only: over 60,000 synthetic samples were generated to balance the two classes (89,625 vs 89,625). For tree-based models (Random Forest, XGBoost, LightGBM), however, this typically adds little benefit, can increase training time, and introduces synthetic noise that reduces generalization to real data.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•  Models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87832" y="3429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Split &amp; Preprocessing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753" y="8869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7.1–7.4 Train/Test Split &amp; Preprocessing Pipeline</a:t>
            </a:r>
            <a:endParaRPr lang="en-US" sz="135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8191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118,936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 (80%)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58191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29,734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 (20%)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1508760"/>
            <a:ext cx="3685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1581912"/>
            <a:ext cx="3685032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955280" y="2606040"/>
            <a:ext cx="36850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After Preprocessing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1094415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456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10545775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(23): median imputation followed by standardization (StandardScaler).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 (11): mode imputation followed by One-Hot Encoding, ignoring unknown categories.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(Stratify=y) to preserve the same default ratio in training and test sets.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handled within the models themselves via class_weight — without modifying the training data.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243293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Trained &amp; Compared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different machine learning algorithms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00200"/>
            <a:ext cx="35152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8218" y="160020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38218" y="1600200"/>
            <a:ext cx="35152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27797" y="1600200"/>
            <a:ext cx="35152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80360"/>
            <a:ext cx="35152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38218" y="288036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38218" y="2880360"/>
            <a:ext cx="35152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 Gradient Boosting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7797" y="288036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27797" y="2880360"/>
            <a:ext cx="35152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160520"/>
            <a:ext cx="35152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38218" y="416052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38218" y="4160520"/>
            <a:ext cx="35152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27797" y="4160520"/>
            <a:ext cx="351525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27797" y="4160520"/>
            <a:ext cx="35152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was trained twice: once using class_weight only, and once on SMOTE-balanced data — for a fair comparison between the two strategies.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•  Results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class_weight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7417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Final Model Comparison</a:t>
            </a:r>
            <a:endParaRPr lang="en-US" sz="1400" b="1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89482"/>
              </p:ext>
            </p:extLst>
          </p:nvPr>
        </p:nvGraphicFramePr>
        <p:xfrm>
          <a:off x="548640" y="1463040"/>
          <a:ext cx="11094415" cy="4736370"/>
        </p:xfrm>
        <a:graphic>
          <a:graphicData uri="http://schemas.openxmlformats.org/drawingml/2006/table">
            <a:tbl>
              <a:tblPr/>
              <a:tblGrid>
                <a:gridCol w="1036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9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1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1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14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1482">
                  <a:extLst>
                    <a:ext uri="{9D8B030D-6E8A-4147-A177-3AD203B41FA5}">
                      <a16:colId xmlns:a16="http://schemas.microsoft.com/office/drawing/2014/main" val="3327047640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0.9998 ±0.0001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0.9999 ±0.0001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0.9999 ±0.0001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0.9999 ±0.0001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0.9997 ±0.0001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0.9991 ±0.0003 </a:t>
                      </a:r>
                      <a:br>
                        <a:rPr lang="en-US" sz="1100" b="1" dirty="0">
                          <a:solidFill>
                            <a:schemeClr val="tx1"/>
                          </a:solidFill>
                        </a:rPr>
                      </a:b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 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0.9995 ±0.0001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0.8524 ± 0.0028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i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0.5340 ± 0.0054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After SMOTE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7417" y="858915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Final Model Comparison (SMOTE)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011500"/>
              </p:ext>
            </p:extLst>
          </p:nvPr>
        </p:nvGraphicFramePr>
        <p:xfrm>
          <a:off x="637416" y="1389888"/>
          <a:ext cx="6331421" cy="4879848"/>
        </p:xfrm>
        <a:graphic>
          <a:graphicData uri="http://schemas.openxmlformats.org/drawingml/2006/table">
            <a:tbl>
              <a:tblPr/>
              <a:tblGrid>
                <a:gridCol w="523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070">
                  <a:extLst>
                    <a:ext uri="{9D8B030D-6E8A-4147-A177-3AD203B41FA5}">
                      <a16:colId xmlns:a16="http://schemas.microsoft.com/office/drawing/2014/main" val="4254209427"/>
                    </a:ext>
                  </a:extLst>
                </a:gridCol>
                <a:gridCol w="714070">
                  <a:extLst>
                    <a:ext uri="{9D8B030D-6E8A-4147-A177-3AD203B41FA5}">
                      <a16:colId xmlns:a16="http://schemas.microsoft.com/office/drawing/2014/main" val="2167437561"/>
                    </a:ext>
                  </a:extLst>
                </a:gridCol>
                <a:gridCol w="714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070">
                  <a:extLst>
                    <a:ext uri="{9D8B030D-6E8A-4147-A177-3AD203B41FA5}">
                      <a16:colId xmlns:a16="http://schemas.microsoft.com/office/drawing/2014/main" val="1764085651"/>
                    </a:ext>
                  </a:extLst>
                </a:gridCol>
                <a:gridCol w="714070">
                  <a:extLst>
                    <a:ext uri="{9D8B030D-6E8A-4147-A177-3AD203B41FA5}">
                      <a16:colId xmlns:a16="http://schemas.microsoft.com/office/drawing/2014/main" val="3348916085"/>
                    </a:ext>
                  </a:extLst>
                </a:gridCol>
              </a:tblGrid>
              <a:tr h="4009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7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</a:p>
                    <a:p>
                      <a:pPr marL="0" indent="0" algn="l">
                        <a:buNone/>
                      </a:pP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3E3E3"/>
                          </a:solidFill>
                          <a:effectLst/>
                          <a:latin typeface="Courier New" panose="02070309020205020404" pitchFamily="49" charset="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i="0" dirty="0">
                          <a:solidFill>
                            <a:srgbClr val="E3E3E3"/>
                          </a:solidFill>
                          <a:effectLst/>
                          <a:latin typeface="Courier New" panose="02070309020205020404" pitchFamily="49" charset="0"/>
                        </a:rPr>
                        <a:t>CV Mean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i="0" dirty="0">
                          <a:solidFill>
                            <a:srgbClr val="E3E3E3"/>
                          </a:solidFill>
                          <a:effectLst/>
                          <a:latin typeface="Courier New" panose="02070309020205020404" pitchFamily="49" charset="0"/>
                        </a:rPr>
                        <a:t>CV 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1000" kern="1200" noProof="0" dirty="0">
                        <a:solidFill>
                          <a:srgbClr val="1B234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0.000105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0.999849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0.000078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0.999807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0.000121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0.999865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0.000131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0.999403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 Gradient Boosting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0.998924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0.998926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0.998924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0.998924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0.999092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0.841057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0.864018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0.841057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0.847441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0.835483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0.003729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7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0.838434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0.838688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0.838434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0.838560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0.835147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0.001892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417320"/>
            <a:ext cx="4206240" cy="475488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Decision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2057400"/>
            <a:ext cx="3749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clearly boosted linear model (Logistic Regression) accuracy: from 53.9% to 83.8%.</a:t>
            </a:r>
            <a:endParaRPr lang="en-US" sz="125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barely improved the already-strong tree-based models — and may increase overfitting risk.</a:t>
            </a:r>
            <a:endParaRPr lang="en-US" sz="125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alone was adopted in the final production pipeline, since it introduces no synthetic data and yields more credible results.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Comparison Charts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1463040" y="1417320"/>
            <a:ext cx="92354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work/imgs/cell70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338" y="1600200"/>
            <a:ext cx="6538844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•  Best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Decision Tree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9047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4173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49047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5196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417320"/>
            <a:ext cx="3685032" cy="1417320"/>
          </a:xfrm>
          <a:prstGeom prst="roundRect">
            <a:avLst>
              <a:gd name="adj" fmla="val 5161"/>
            </a:avLst>
          </a:prstGeom>
          <a:solidFill>
            <a:srgbClr val="262F73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41732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Best Model Deep Dive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94415" cy="3017520"/>
          </a:xfrm>
          <a:prstGeom prst="roundRect">
            <a:avLst>
              <a:gd name="adj" fmla="val 2424"/>
            </a:avLst>
          </a:prstGeom>
          <a:solidFill>
            <a:srgbClr val="2A2F6E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24612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Important Methodological Note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657600"/>
            <a:ext cx="1045433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accuracy (99.9%–100%) across several independent tree-based models is unusual for real-world credit classification problems.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may indicate that certain features (such as Credit_Worthiness or approval rules) are near-deterministically linked to the target Status column, not necessarily data leakage.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review is recommended: examine each feature individually against Status, and test the model on entirely new data before any real production use.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85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•  Tuning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then GridSearchCV — on Random Forest</a:t>
            </a:r>
            <a:endParaRPr lang="en-US" sz="135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RandomizedSearchCV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random parameter combinations, 5-fold CV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300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30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 20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log_loss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 = 0.9997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(fine-tuning)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1031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combinations around the best random result, 270 fits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250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32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 22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bootstrap: False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 = 0.9997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310" y="548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•  Cross-Validation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2976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Cross-Validation (5-Fold)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1" y="1008281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6" cy="26517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9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9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9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9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7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ROC-AUC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976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4370832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0.9997 ± 0.0003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5532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(mean ± std)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51960" y="42976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51960" y="4370832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 ± 0.0000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251960" y="5532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55280" y="4297680"/>
            <a:ext cx="3685032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38160" y="443484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Train/validation gap ≈ 0.0000 — no clear sign of overfitting within this split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77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•  Feature Importance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3552" y="374904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in the Final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 Importance — Random Forest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2194560" y="1417320"/>
            <a:ext cx="7772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work/imgs/cell81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525" y="1600200"/>
            <a:ext cx="671647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•  Final Evaluation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ROC/PR Curves &amp; Confusion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work/imgs/cell84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26" y="1645920"/>
            <a:ext cx="10223644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8463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91947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0.999832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5623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/ F1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51960" y="4846320"/>
            <a:ext cx="7388352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26280" y="4846320"/>
            <a:ext cx="6858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(Random Forest): TN=22,401  FP=5  FN=0  TP=7,328 — ROC-AUC = 1.0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•  Production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5896" y="790956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5897" y="1874520"/>
            <a:ext cx="1109441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full pipeline (feature engineering + preprocessing + model) as a single file using joblib.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the saved model (loan_default_pipeline.pkl) and verify its performance matches the original.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reloaded model achieved ROC-AUC = 1.0000 on the test data — an exact match with pre-save performance.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deploy: a new loan application's data can be fed directly into the pipeline for an instant prediction, with no additional manual processing.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36592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the Reloaded Model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4663440"/>
            <a:ext cx="7388352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4846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loan_default_pipeline.pkl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5349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integrate with any loan-application system via a simple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166481"/>
            <a:ext cx="1109441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near-perfect accuracy calls for further validation on fully independent data (out-of-time / out-of-sample) before full production adoption.</a:t>
            </a:r>
            <a:endParaRPr lang="en-US" sz="145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rare categories (such as Secured_by = 1) showed extreme rates (100%) due to small sample size — larger data is needed to confirm them.</a:t>
            </a:r>
            <a:endParaRPr lang="en-US" sz="145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 could be explored to make model outputs more interpretable for lenders.</a:t>
            </a:r>
            <a:endParaRPr lang="en-US" sz="145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(SHAP / LIME) could be added to clarify the reasoning behind each individual decision, supporting transparency and regulatory compliance.</a:t>
            </a:r>
            <a:endParaRPr lang="en-US" sz="1450" dirty="0"/>
          </a:p>
          <a:p>
            <a:pPr marL="342900" indent="-342900" algn="l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model monitoring &amp; retraining to keep pace with changing borrower behavior over time.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machine learning model was built to predict loan default risk from 148,670 loan applications.</a:t>
            </a:r>
            <a:endParaRPr lang="en-US" sz="1550" dirty="0"/>
          </a:p>
          <a:p>
            <a:pPr marL="342900" indent="-342900" algn="l"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(75.4% vs 24.6%) was addressed using class_weight, after testing and excluding SMOTE for its unrealistic results.</a:t>
            </a:r>
            <a:endParaRPr lang="en-US" sz="1550" dirty="0"/>
          </a:p>
          <a:p>
            <a:pPr marL="342900" indent="-342900" algn="l"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(Decision Tree, LightGBM, Gradient Boosting) delivered the best performance, clearly outperforming linear models.</a:t>
            </a:r>
            <a:endParaRPr lang="en-US" sz="1550" dirty="0"/>
          </a:p>
          <a:p>
            <a:pPr marL="342900" indent="-342900" algn="l"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were tuned via RandomizedSearchCV and GridSearchCV, and validated with 5-fold cross-validation to ensure reliable results.</a:t>
            </a:r>
            <a:endParaRPr lang="en-US" sz="1550" dirty="0"/>
          </a:p>
          <a:p>
            <a:pPr marL="342900" indent="-342900" algn="l">
              <a:spcAft>
                <a:spcPts val="1300"/>
              </a:spcAft>
              <a:buSzPct val="100000"/>
              <a:buChar char="▪"/>
            </a:pPr>
            <a:r>
              <a:rPr lang="en-US" sz="15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model is saved within a complete, production-ready pipeline for real-world use.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2F7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262F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and attention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4114800"/>
            <a:ext cx="2286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— Digital Egypt Pioneers Initiative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2562</Words>
  <Application>Microsoft Office PowerPoint</Application>
  <PresentationFormat>Widescreen</PresentationFormat>
  <Paragraphs>573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Safwat Mohamed</cp:lastModifiedBy>
  <cp:revision>3</cp:revision>
  <dcterms:created xsi:type="dcterms:W3CDTF">2026-07-10T01:27:54Z</dcterms:created>
  <dcterms:modified xsi:type="dcterms:W3CDTF">2026-07-10T03:39:32Z</dcterms:modified>
</cp:coreProperties>
</file>